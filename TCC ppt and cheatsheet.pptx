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8288000" cy="10287000"/>
  <p:notesSz cx="6858000" cy="9144000"/>
  <p:embeddedFontLst>
    <p:embeddedFont>
      <p:font typeface="Canva Sans" panose="020B0604020202020204" charset="0"/>
      <p:regular r:id="rId7"/>
    </p:embeddedFont>
    <p:embeddedFont>
      <p:font typeface="Canva Sans Bold" panose="020B0604020202020204" charset="0"/>
      <p:regular r:id="rId8"/>
    </p:embeddedFont>
    <p:embeddedFont>
      <p:font typeface="Open Sauce" panose="020B0604020202020204" charset="0"/>
      <p:regular r:id="rId9"/>
    </p:embeddedFont>
    <p:embeddedFont>
      <p:font typeface="Open Sauce Bold" panose="020B0604020202020204" charset="0"/>
      <p:regular r:id="rId10"/>
    </p:embeddedFont>
    <p:embeddedFont>
      <p:font typeface="Oswald" panose="00000500000000000000" pitchFamily="2" charset="0"/>
      <p:regular r:id="rId11"/>
    </p:embeddedFont>
    <p:embeddedFont>
      <p:font typeface="Oswald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" Type="http://schemas.openxmlformats.org/officeDocument/2006/relationships/image" Target="../media/image4.png"/><Relationship Id="rId21" Type="http://schemas.openxmlformats.org/officeDocument/2006/relationships/image" Target="../media/image22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5" Type="http://schemas.openxmlformats.org/officeDocument/2006/relationships/image" Target="../media/image6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/>
          <p:cNvGraphicFramePr>
            <a:graphicFrameLocks noGrp="1"/>
          </p:cNvGraphicFramePr>
          <p:nvPr/>
        </p:nvGraphicFramePr>
        <p:xfrm>
          <a:off x="1028700" y="4644705"/>
          <a:ext cx="11179648" cy="4057648"/>
        </p:xfrm>
        <a:graphic>
          <a:graphicData uri="http://schemas.openxmlformats.org/drawingml/2006/table">
            <a:tbl>
              <a:tblPr/>
              <a:tblGrid>
                <a:gridCol w="5121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580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14412">
                <a:tc>
                  <a:txBody>
                    <a:bodyPr/>
                    <a:lstStyle/>
                    <a:p>
                      <a:pPr algn="just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Team Member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 b="1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PRN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4412"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Mayur More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245109052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4412"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Sakib Latkar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245109054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4412"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Kushagra Jha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4339"/>
                        </a:lnSpc>
                        <a:defRPr/>
                      </a:pPr>
                      <a:r>
                        <a:rPr lang="en-US" sz="30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245109069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TextBox 3"/>
          <p:cNvSpPr txBox="1"/>
          <p:nvPr/>
        </p:nvSpPr>
        <p:spPr>
          <a:xfrm>
            <a:off x="753192" y="895350"/>
            <a:ext cx="16781616" cy="11619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55"/>
              </a:lnSpc>
              <a:spcBef>
                <a:spcPct val="0"/>
              </a:spcBef>
            </a:pPr>
            <a:r>
              <a:rPr lang="en-US" sz="6753" b="1" spc="-270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 TINY C COMPILER (TCC)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848442" y="106736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12404668" y="2222771"/>
            <a:ext cx="5710023" cy="5917122"/>
          </a:xfrm>
          <a:custGeom>
            <a:avLst/>
            <a:gdLst/>
            <a:ahLst/>
            <a:cxnLst/>
            <a:rect l="l" t="t" r="r" b="b"/>
            <a:pathLst>
              <a:path w="5710023" h="5917122">
                <a:moveTo>
                  <a:pt x="0" y="0"/>
                </a:moveTo>
                <a:lnTo>
                  <a:pt x="5710023" y="0"/>
                </a:lnTo>
                <a:lnTo>
                  <a:pt x="5710023" y="5917122"/>
                </a:lnTo>
                <a:lnTo>
                  <a:pt x="0" y="5917122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53192" y="2137046"/>
            <a:ext cx="16781616" cy="8196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95"/>
              </a:lnSpc>
              <a:spcBef>
                <a:spcPct val="0"/>
              </a:spcBef>
            </a:pPr>
            <a:r>
              <a:rPr lang="en-US" sz="4853" spc="-194">
                <a:solidFill>
                  <a:srgbClr val="000000"/>
                </a:solidFill>
                <a:latin typeface="Oswald"/>
                <a:ea typeface="Oswald"/>
                <a:cs typeface="Oswald"/>
                <a:sym typeface="Oswald"/>
              </a:rPr>
              <a:t> Compiler Design Pipeline and Live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2001459" y="1841869"/>
            <a:ext cx="14285082" cy="8296544"/>
          </a:xfrm>
          <a:custGeom>
            <a:avLst/>
            <a:gdLst/>
            <a:ahLst/>
            <a:cxnLst/>
            <a:rect l="l" t="t" r="r" b="b"/>
            <a:pathLst>
              <a:path w="14285082" h="8296544">
                <a:moveTo>
                  <a:pt x="0" y="0"/>
                </a:moveTo>
                <a:lnTo>
                  <a:pt x="14285082" y="0"/>
                </a:lnTo>
                <a:lnTo>
                  <a:pt x="14285082" y="8296544"/>
                </a:lnTo>
                <a:lnTo>
                  <a:pt x="0" y="8296544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314450" y="926465"/>
            <a:ext cx="14643866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6159"/>
              </a:lnSpc>
              <a:spcBef>
                <a:spcPct val="0"/>
              </a:spcBef>
            </a:pPr>
            <a:r>
              <a:rPr lang="en-US" sz="4399" b="1" spc="-87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 TCC: OVERVIEW AND FEATURES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50983" y="889901"/>
            <a:ext cx="0" cy="951969"/>
          </a:xfrm>
          <a:prstGeom prst="line">
            <a:avLst/>
          </a:prstGeom>
          <a:ln w="190500" cap="flat">
            <a:solidFill>
              <a:srgbClr val="FF821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>
            <a:off x="1488559" y="2900194"/>
            <a:ext cx="1782441" cy="2254666"/>
          </a:xfrm>
          <a:custGeom>
            <a:avLst/>
            <a:gdLst/>
            <a:ahLst/>
            <a:cxnLst/>
            <a:rect l="l" t="t" r="r" b="b"/>
            <a:pathLst>
              <a:path w="1782441" h="2254666">
                <a:moveTo>
                  <a:pt x="0" y="0"/>
                </a:moveTo>
                <a:lnTo>
                  <a:pt x="1782441" y="0"/>
                </a:lnTo>
                <a:lnTo>
                  <a:pt x="1782441" y="2254665"/>
                </a:lnTo>
                <a:lnTo>
                  <a:pt x="0" y="2254665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761885" y="3067055"/>
            <a:ext cx="1048225" cy="968611"/>
          </a:xfrm>
          <a:custGeom>
            <a:avLst/>
            <a:gdLst/>
            <a:ahLst/>
            <a:cxnLst/>
            <a:rect l="l" t="t" r="r" b="b"/>
            <a:pathLst>
              <a:path w="1048225" h="968611">
                <a:moveTo>
                  <a:pt x="0" y="0"/>
                </a:moveTo>
                <a:lnTo>
                  <a:pt x="1048225" y="0"/>
                </a:lnTo>
                <a:lnTo>
                  <a:pt x="1048225" y="968611"/>
                </a:lnTo>
                <a:lnTo>
                  <a:pt x="0" y="968611"/>
                </a:lnTo>
                <a:lnTo>
                  <a:pt x="0" y="0"/>
                </a:ln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808796" y="4120777"/>
            <a:ext cx="1178507" cy="935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 Source Program</a:t>
            </a:r>
          </a:p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(source.c)</a:t>
            </a:r>
          </a:p>
        </p:txBody>
      </p:sp>
      <p:sp>
        <p:nvSpPr>
          <p:cNvPr id="6" name="Freeform 6"/>
          <p:cNvSpPr/>
          <p:nvPr/>
        </p:nvSpPr>
        <p:spPr>
          <a:xfrm>
            <a:off x="4051781" y="3062985"/>
            <a:ext cx="2410352" cy="1611638"/>
          </a:xfrm>
          <a:custGeom>
            <a:avLst/>
            <a:gdLst/>
            <a:ahLst/>
            <a:cxnLst/>
            <a:rect l="l" t="t" r="r" b="b"/>
            <a:pathLst>
              <a:path w="2410352" h="1611638">
                <a:moveTo>
                  <a:pt x="0" y="0"/>
                </a:moveTo>
                <a:lnTo>
                  <a:pt x="2410352" y="0"/>
                </a:lnTo>
                <a:lnTo>
                  <a:pt x="2410352" y="1611639"/>
                </a:lnTo>
                <a:lnTo>
                  <a:pt x="0" y="1611639"/>
                </a:lnTo>
                <a:lnTo>
                  <a:pt x="0" y="0"/>
                </a:ln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4182409" y="3973992"/>
            <a:ext cx="1975245" cy="306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Tiny CCompiler</a:t>
            </a:r>
          </a:p>
        </p:txBody>
      </p:sp>
      <p:sp>
        <p:nvSpPr>
          <p:cNvPr id="8" name="Freeform 8"/>
          <p:cNvSpPr/>
          <p:nvPr/>
        </p:nvSpPr>
        <p:spPr>
          <a:xfrm flipV="1">
            <a:off x="5078393" y="4682763"/>
            <a:ext cx="233002" cy="1432567"/>
          </a:xfrm>
          <a:custGeom>
            <a:avLst/>
            <a:gdLst/>
            <a:ahLst/>
            <a:cxnLst/>
            <a:rect l="l" t="t" r="r" b="b"/>
            <a:pathLst>
              <a:path w="233002" h="1432567">
                <a:moveTo>
                  <a:pt x="0" y="1432567"/>
                </a:moveTo>
                <a:lnTo>
                  <a:pt x="233002" y="1432567"/>
                </a:lnTo>
                <a:lnTo>
                  <a:pt x="233002" y="0"/>
                </a:lnTo>
                <a:lnTo>
                  <a:pt x="0" y="0"/>
                </a:lnTo>
                <a:lnTo>
                  <a:pt x="0" y="1432567"/>
                </a:ln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3337675" y="3633242"/>
            <a:ext cx="778060" cy="449681"/>
          </a:xfrm>
          <a:custGeom>
            <a:avLst/>
            <a:gdLst/>
            <a:ahLst/>
            <a:cxnLst/>
            <a:rect l="l" t="t" r="r" b="b"/>
            <a:pathLst>
              <a:path w="778060" h="449681">
                <a:moveTo>
                  <a:pt x="0" y="0"/>
                </a:moveTo>
                <a:lnTo>
                  <a:pt x="778059" y="0"/>
                </a:lnTo>
                <a:lnTo>
                  <a:pt x="778059" y="449681"/>
                </a:lnTo>
                <a:lnTo>
                  <a:pt x="0" y="449681"/>
                </a:lnTo>
                <a:lnTo>
                  <a:pt x="0" y="0"/>
                </a:lnTo>
                <a:close/>
              </a:path>
            </a:pathLst>
          </a:custGeom>
          <a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l="-26916" b="-14076"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331940" y="3706013"/>
            <a:ext cx="832096" cy="325583"/>
          </a:xfrm>
          <a:custGeom>
            <a:avLst/>
            <a:gdLst/>
            <a:ahLst/>
            <a:cxnLst/>
            <a:rect l="l" t="t" r="r" b="b"/>
            <a:pathLst>
              <a:path w="832096" h="325583">
                <a:moveTo>
                  <a:pt x="0" y="0"/>
                </a:moveTo>
                <a:lnTo>
                  <a:pt x="832097" y="0"/>
                </a:lnTo>
                <a:lnTo>
                  <a:pt x="832097" y="325583"/>
                </a:lnTo>
                <a:lnTo>
                  <a:pt x="0" y="325583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5079603" y="6569284"/>
            <a:ext cx="202371" cy="966892"/>
          </a:xfrm>
          <a:custGeom>
            <a:avLst/>
            <a:gdLst/>
            <a:ahLst/>
            <a:cxnLst/>
            <a:rect l="l" t="t" r="r" b="b"/>
            <a:pathLst>
              <a:path w="202371" h="966892">
                <a:moveTo>
                  <a:pt x="0" y="0"/>
                </a:moveTo>
                <a:lnTo>
                  <a:pt x="202370" y="0"/>
                </a:lnTo>
                <a:lnTo>
                  <a:pt x="202370" y="966893"/>
                </a:lnTo>
                <a:lnTo>
                  <a:pt x="0" y="966893"/>
                </a:lnTo>
                <a:lnTo>
                  <a:pt x="0" y="0"/>
                </a:lnTo>
                <a:close/>
              </a:path>
            </a:pathLst>
          </a:custGeom>
          <a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5037004" y="7505752"/>
            <a:ext cx="2085643" cy="162792"/>
          </a:xfrm>
          <a:custGeom>
            <a:avLst/>
            <a:gdLst/>
            <a:ahLst/>
            <a:cxnLst/>
            <a:rect l="l" t="t" r="r" b="b"/>
            <a:pathLst>
              <a:path w="2085643" h="162792">
                <a:moveTo>
                  <a:pt x="0" y="0"/>
                </a:moveTo>
                <a:lnTo>
                  <a:pt x="2085643" y="0"/>
                </a:lnTo>
                <a:lnTo>
                  <a:pt x="2085643" y="162792"/>
                </a:lnTo>
                <a:lnTo>
                  <a:pt x="0" y="162792"/>
                </a:lnTo>
                <a:lnTo>
                  <a:pt x="0" y="0"/>
                </a:lnTo>
                <a:close/>
              </a:path>
            </a:pathLst>
          </a:custGeom>
          <a:blipFill>
            <a:blip r:embed="rId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7316331" y="1841869"/>
            <a:ext cx="4418831" cy="6397202"/>
          </a:xfrm>
          <a:custGeom>
            <a:avLst/>
            <a:gdLst/>
            <a:ahLst/>
            <a:cxnLst/>
            <a:rect l="l" t="t" r="r" b="b"/>
            <a:pathLst>
              <a:path w="4418831" h="6397202">
                <a:moveTo>
                  <a:pt x="0" y="0"/>
                </a:moveTo>
                <a:lnTo>
                  <a:pt x="4418831" y="0"/>
                </a:lnTo>
                <a:lnTo>
                  <a:pt x="4418831" y="6397202"/>
                </a:lnTo>
                <a:lnTo>
                  <a:pt x="0" y="6397202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38100" cap="sq">
            <a:solidFill>
              <a:srgbClr val="6C6998"/>
            </a:solidFill>
            <a:prstDash val="dash"/>
            <a:miter/>
          </a:ln>
        </p:spPr>
      </p:sp>
      <p:grpSp>
        <p:nvGrpSpPr>
          <p:cNvPr id="14" name="Group 14"/>
          <p:cNvGrpSpPr/>
          <p:nvPr/>
        </p:nvGrpSpPr>
        <p:grpSpPr>
          <a:xfrm>
            <a:off x="7555014" y="4196786"/>
            <a:ext cx="3944352" cy="683380"/>
            <a:chOff x="0" y="0"/>
            <a:chExt cx="5259135" cy="91117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259135" cy="911173"/>
            </a:xfrm>
            <a:custGeom>
              <a:avLst/>
              <a:gdLst/>
              <a:ahLst/>
              <a:cxnLst/>
              <a:rect l="l" t="t" r="r" b="b"/>
              <a:pathLst>
                <a:path w="5259135" h="911173">
                  <a:moveTo>
                    <a:pt x="0" y="0"/>
                  </a:moveTo>
                  <a:lnTo>
                    <a:pt x="5259135" y="0"/>
                  </a:lnTo>
                  <a:lnTo>
                    <a:pt x="5259135" y="911173"/>
                  </a:lnTo>
                  <a:lnTo>
                    <a:pt x="0" y="91117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102474" y="239237"/>
              <a:ext cx="4868951" cy="52514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Semantic analysis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7555014" y="5283188"/>
            <a:ext cx="3944352" cy="944787"/>
          </a:xfrm>
          <a:custGeom>
            <a:avLst/>
            <a:gdLst/>
            <a:ahLst/>
            <a:cxnLst/>
            <a:rect l="l" t="t" r="r" b="b"/>
            <a:pathLst>
              <a:path w="3944352" h="944787">
                <a:moveTo>
                  <a:pt x="0" y="0"/>
                </a:moveTo>
                <a:lnTo>
                  <a:pt x="3944351" y="0"/>
                </a:lnTo>
                <a:lnTo>
                  <a:pt x="3944351" y="944787"/>
                </a:lnTo>
                <a:lnTo>
                  <a:pt x="0" y="944787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4113" b="-266"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712711" y="5312121"/>
            <a:ext cx="3570871" cy="763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21"/>
              </a:lnSpc>
            </a:pPr>
            <a:r>
              <a:rPr lang="en-US" sz="222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Intermediate Code Generation</a:t>
            </a:r>
          </a:p>
        </p:txBody>
      </p:sp>
      <p:sp>
        <p:nvSpPr>
          <p:cNvPr id="19" name="Freeform 19"/>
          <p:cNvSpPr/>
          <p:nvPr/>
        </p:nvSpPr>
        <p:spPr>
          <a:xfrm>
            <a:off x="7574681" y="6437525"/>
            <a:ext cx="3949755" cy="533818"/>
          </a:xfrm>
          <a:custGeom>
            <a:avLst/>
            <a:gdLst/>
            <a:ahLst/>
            <a:cxnLst/>
            <a:rect l="l" t="t" r="r" b="b"/>
            <a:pathLst>
              <a:path w="3949755" h="533818">
                <a:moveTo>
                  <a:pt x="0" y="0"/>
                </a:moveTo>
                <a:lnTo>
                  <a:pt x="3949755" y="0"/>
                </a:lnTo>
                <a:lnTo>
                  <a:pt x="3949755" y="533819"/>
                </a:lnTo>
                <a:lnTo>
                  <a:pt x="0" y="533819"/>
                </a:lnTo>
                <a:lnTo>
                  <a:pt x="0" y="0"/>
                </a:lnTo>
                <a:close/>
              </a:path>
            </a:pathLst>
          </a:custGeom>
          <a:blipFill>
            <a:blip r:embed="rId1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0" name="TextBox 20"/>
          <p:cNvSpPr txBox="1"/>
          <p:nvPr/>
        </p:nvSpPr>
        <p:spPr>
          <a:xfrm>
            <a:off x="7651537" y="6492578"/>
            <a:ext cx="3651713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Code Optimization</a:t>
            </a:r>
          </a:p>
        </p:txBody>
      </p:sp>
      <p:sp>
        <p:nvSpPr>
          <p:cNvPr id="21" name="Freeform 21"/>
          <p:cNvSpPr/>
          <p:nvPr/>
        </p:nvSpPr>
        <p:spPr>
          <a:xfrm>
            <a:off x="7580085" y="7180168"/>
            <a:ext cx="3944352" cy="813959"/>
          </a:xfrm>
          <a:custGeom>
            <a:avLst/>
            <a:gdLst/>
            <a:ahLst/>
            <a:cxnLst/>
            <a:rect l="l" t="t" r="r" b="b"/>
            <a:pathLst>
              <a:path w="3944352" h="813959">
                <a:moveTo>
                  <a:pt x="0" y="0"/>
                </a:moveTo>
                <a:lnTo>
                  <a:pt x="3944351" y="0"/>
                </a:lnTo>
                <a:lnTo>
                  <a:pt x="3944351" y="813959"/>
                </a:lnTo>
                <a:lnTo>
                  <a:pt x="0" y="813959"/>
                </a:lnTo>
                <a:lnTo>
                  <a:pt x="0" y="0"/>
                </a:lnTo>
                <a:close/>
              </a:path>
            </a:pathLst>
          </a:custGeom>
          <a:blipFill>
            <a:blip r:embed="rId1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701333" y="7256288"/>
            <a:ext cx="3651713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99"/>
              </a:lnSpc>
            </a:pPr>
            <a:r>
              <a:rPr lang="en-US" sz="1999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Code Generation and Linking</a:t>
            </a:r>
          </a:p>
        </p:txBody>
      </p:sp>
      <p:sp>
        <p:nvSpPr>
          <p:cNvPr id="23" name="Freeform 23"/>
          <p:cNvSpPr/>
          <p:nvPr/>
        </p:nvSpPr>
        <p:spPr>
          <a:xfrm>
            <a:off x="6947908" y="2419958"/>
            <a:ext cx="216129" cy="5136079"/>
          </a:xfrm>
          <a:custGeom>
            <a:avLst/>
            <a:gdLst/>
            <a:ahLst/>
            <a:cxnLst/>
            <a:rect l="l" t="t" r="r" b="b"/>
            <a:pathLst>
              <a:path w="216129" h="5136079">
                <a:moveTo>
                  <a:pt x="0" y="0"/>
                </a:moveTo>
                <a:lnTo>
                  <a:pt x="216129" y="0"/>
                </a:lnTo>
                <a:lnTo>
                  <a:pt x="216129" y="5136079"/>
                </a:lnTo>
                <a:lnTo>
                  <a:pt x="0" y="5136079"/>
                </a:lnTo>
                <a:lnTo>
                  <a:pt x="0" y="0"/>
                </a:lnTo>
                <a:close/>
              </a:path>
            </a:pathLst>
          </a:custGeom>
          <a:blipFill>
            <a:blip r:embed="rId1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9356304" y="2729262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9" y="0"/>
                </a:lnTo>
                <a:lnTo>
                  <a:pt x="216129" y="488375"/>
                </a:lnTo>
                <a:lnTo>
                  <a:pt x="0" y="48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9444196" y="6913010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9" y="0"/>
                </a:lnTo>
                <a:lnTo>
                  <a:pt x="216129" y="488375"/>
                </a:lnTo>
                <a:lnTo>
                  <a:pt x="0" y="488375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9464369" y="7969430"/>
            <a:ext cx="229154" cy="530162"/>
          </a:xfrm>
          <a:custGeom>
            <a:avLst/>
            <a:gdLst/>
            <a:ahLst/>
            <a:cxnLst/>
            <a:rect l="l" t="t" r="r" b="b"/>
            <a:pathLst>
              <a:path w="229154" h="530162">
                <a:moveTo>
                  <a:pt x="0" y="0"/>
                </a:moveTo>
                <a:lnTo>
                  <a:pt x="229153" y="0"/>
                </a:lnTo>
                <a:lnTo>
                  <a:pt x="229153" y="530162"/>
                </a:lnTo>
                <a:lnTo>
                  <a:pt x="0" y="530162"/>
                </a:lnTo>
                <a:lnTo>
                  <a:pt x="0" y="0"/>
                </a:lnTo>
                <a:close/>
              </a:path>
            </a:pathLst>
          </a:custGeom>
          <a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52772" b="-20121"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9491426" y="9014112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9" y="0"/>
                </a:lnTo>
                <a:lnTo>
                  <a:pt x="216129" y="488376"/>
                </a:lnTo>
                <a:lnTo>
                  <a:pt x="0" y="488376"/>
                </a:lnTo>
                <a:lnTo>
                  <a:pt x="0" y="0"/>
                </a:lnTo>
                <a:close/>
              </a:path>
            </a:pathLst>
          </a:custGeom>
          <a:blipFill>
            <a:blip r:embed="rId19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2649328" y="1741353"/>
            <a:ext cx="4408126" cy="1015348"/>
          </a:xfrm>
          <a:custGeom>
            <a:avLst/>
            <a:gdLst/>
            <a:ahLst/>
            <a:cxnLst/>
            <a:rect l="l" t="t" r="r" b="b"/>
            <a:pathLst>
              <a:path w="4408126" h="1015348">
                <a:moveTo>
                  <a:pt x="0" y="0"/>
                </a:moveTo>
                <a:lnTo>
                  <a:pt x="4408127" y="0"/>
                </a:lnTo>
                <a:lnTo>
                  <a:pt x="4408127" y="1015347"/>
                </a:lnTo>
                <a:lnTo>
                  <a:pt x="0" y="1015347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6416" b="-10469"/>
            </a:stretch>
          </a:blipFill>
        </p:spPr>
      </p:sp>
      <p:sp>
        <p:nvSpPr>
          <p:cNvPr id="29" name="TextBox 29"/>
          <p:cNvSpPr txBox="1"/>
          <p:nvPr/>
        </p:nvSpPr>
        <p:spPr>
          <a:xfrm>
            <a:off x="12929510" y="2110376"/>
            <a:ext cx="4183800" cy="2889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2"/>
              </a:lnSpc>
            </a:pPr>
            <a:r>
              <a:rPr lang="en-US" sz="1744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Converts source code into tokens.</a:t>
            </a:r>
          </a:p>
        </p:txBody>
      </p:sp>
      <p:sp>
        <p:nvSpPr>
          <p:cNvPr id="30" name="Freeform 30"/>
          <p:cNvSpPr/>
          <p:nvPr/>
        </p:nvSpPr>
        <p:spPr>
          <a:xfrm>
            <a:off x="11324347" y="3380429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7" y="0"/>
                </a:lnTo>
                <a:lnTo>
                  <a:pt x="1469677" y="170932"/>
                </a:lnTo>
                <a:lnTo>
                  <a:pt x="0" y="170932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4554345" y="3321894"/>
            <a:ext cx="1181576" cy="556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6"/>
              </a:lnSpc>
            </a:pPr>
            <a:r>
              <a:rPr lang="en-US" sz="3233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TCC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7606770" y="2155972"/>
            <a:ext cx="3944352" cy="651167"/>
            <a:chOff x="0" y="0"/>
            <a:chExt cx="5259135" cy="868223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259135" cy="868223"/>
            </a:xfrm>
            <a:custGeom>
              <a:avLst/>
              <a:gdLst/>
              <a:ahLst/>
              <a:cxnLst/>
              <a:rect l="l" t="t" r="r" b="b"/>
              <a:pathLst>
                <a:path w="5259135" h="868223">
                  <a:moveTo>
                    <a:pt x="0" y="0"/>
                  </a:moveTo>
                  <a:lnTo>
                    <a:pt x="5259135" y="0"/>
                  </a:lnTo>
                  <a:lnTo>
                    <a:pt x="5259135" y="868223"/>
                  </a:lnTo>
                  <a:lnTo>
                    <a:pt x="0" y="86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102474" y="56641"/>
              <a:ext cx="4868951" cy="5956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13"/>
                </a:lnSpc>
              </a:pPr>
              <a:r>
                <a:rPr lang="en-US" sz="2724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Lexical analysis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563648" y="3112640"/>
            <a:ext cx="3944352" cy="805819"/>
            <a:chOff x="0" y="0"/>
            <a:chExt cx="5259135" cy="107442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259135" cy="1074425"/>
            </a:xfrm>
            <a:custGeom>
              <a:avLst/>
              <a:gdLst/>
              <a:ahLst/>
              <a:cxnLst/>
              <a:rect l="l" t="t" r="r" b="b"/>
              <a:pathLst>
                <a:path w="5259135" h="1074425">
                  <a:moveTo>
                    <a:pt x="0" y="0"/>
                  </a:moveTo>
                  <a:lnTo>
                    <a:pt x="5259135" y="0"/>
                  </a:lnTo>
                  <a:lnTo>
                    <a:pt x="5259135" y="1074425"/>
                  </a:lnTo>
                  <a:lnTo>
                    <a:pt x="0" y="10744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51006" y="129062"/>
              <a:ext cx="4868951" cy="6140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898"/>
                </a:lnSpc>
              </a:pPr>
              <a:r>
                <a:rPr lang="en-US" sz="2784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Syntax analysis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985326" y="8372421"/>
            <a:ext cx="3123062" cy="691724"/>
            <a:chOff x="0" y="0"/>
            <a:chExt cx="4164083" cy="922299"/>
          </a:xfrm>
        </p:grpSpPr>
        <p:sp>
          <p:nvSpPr>
            <p:cNvPr id="39" name="Freeform 39"/>
            <p:cNvSpPr/>
            <p:nvPr/>
          </p:nvSpPr>
          <p:spPr>
            <a:xfrm>
              <a:off x="0" y="54076"/>
              <a:ext cx="4164083" cy="868223"/>
            </a:xfrm>
            <a:custGeom>
              <a:avLst/>
              <a:gdLst/>
              <a:ahLst/>
              <a:cxnLst/>
              <a:rect l="l" t="t" r="r" b="b"/>
              <a:pathLst>
                <a:path w="4164083" h="868223">
                  <a:moveTo>
                    <a:pt x="0" y="0"/>
                  </a:moveTo>
                  <a:lnTo>
                    <a:pt x="4164083" y="0"/>
                  </a:lnTo>
                  <a:lnTo>
                    <a:pt x="4164083" y="868223"/>
                  </a:lnTo>
                  <a:lnTo>
                    <a:pt x="0" y="8682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561935" y="0"/>
              <a:ext cx="1302112" cy="764238"/>
            </a:xfrm>
            <a:custGeom>
              <a:avLst/>
              <a:gdLst/>
              <a:ahLst/>
              <a:cxnLst/>
              <a:rect l="l" t="t" r="r" b="b"/>
              <a:pathLst>
                <a:path w="1302112" h="764238">
                  <a:moveTo>
                    <a:pt x="0" y="0"/>
                  </a:moveTo>
                  <a:lnTo>
                    <a:pt x="1302112" y="0"/>
                  </a:lnTo>
                  <a:lnTo>
                    <a:pt x="1302112" y="764238"/>
                  </a:lnTo>
                  <a:lnTo>
                    <a:pt x="0" y="7642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313185" y="-25760"/>
              <a:ext cx="3850897" cy="7395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602"/>
                </a:lnSpc>
              </a:pPr>
              <a:r>
                <a:rPr lang="en-US" sz="3287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.exe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7985326" y="9426095"/>
            <a:ext cx="3317924" cy="643027"/>
            <a:chOff x="0" y="0"/>
            <a:chExt cx="4423898" cy="85737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4164083" cy="857370"/>
            </a:xfrm>
            <a:custGeom>
              <a:avLst/>
              <a:gdLst/>
              <a:ahLst/>
              <a:cxnLst/>
              <a:rect l="l" t="t" r="r" b="b"/>
              <a:pathLst>
                <a:path w="4164083" h="857370">
                  <a:moveTo>
                    <a:pt x="0" y="0"/>
                  </a:moveTo>
                  <a:lnTo>
                    <a:pt x="4164083" y="0"/>
                  </a:lnTo>
                  <a:lnTo>
                    <a:pt x="4164083" y="857370"/>
                  </a:lnTo>
                  <a:lnTo>
                    <a:pt x="0" y="8573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>
              <a:off x="894307" y="89173"/>
              <a:ext cx="637368" cy="653897"/>
            </a:xfrm>
            <a:custGeom>
              <a:avLst/>
              <a:gdLst/>
              <a:ahLst/>
              <a:cxnLst/>
              <a:rect l="l" t="t" r="r" b="b"/>
              <a:pathLst>
                <a:path w="637368" h="653897">
                  <a:moveTo>
                    <a:pt x="0" y="0"/>
                  </a:moveTo>
                  <a:lnTo>
                    <a:pt x="637368" y="0"/>
                  </a:lnTo>
                  <a:lnTo>
                    <a:pt x="637368" y="653897"/>
                  </a:lnTo>
                  <a:lnTo>
                    <a:pt x="0" y="6538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7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 t="-16382" b="-1638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573001" y="50726"/>
              <a:ext cx="3850897" cy="68924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322"/>
                </a:lnSpc>
              </a:pPr>
              <a:r>
                <a:rPr lang="en-US" sz="3087" b="1">
                  <a:solidFill>
                    <a:srgbClr val="000000"/>
                  </a:solidFill>
                  <a:latin typeface="Open Sauce Bold"/>
                  <a:ea typeface="Open Sauce Bold"/>
                  <a:cs typeface="Open Sauce Bold"/>
                  <a:sym typeface="Open Sauce Bold"/>
                </a:rPr>
                <a:t>Output</a:t>
              </a: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4497785" y="6127447"/>
            <a:ext cx="1294698" cy="569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lang="en-US" sz="1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Compiler</a:t>
            </a:r>
          </a:p>
          <a:p>
            <a:pPr algn="ctr">
              <a:lnSpc>
                <a:spcPts val="2250"/>
              </a:lnSpc>
            </a:pPr>
            <a:r>
              <a:rPr lang="en-US" sz="180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Processing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314450" y="962025"/>
            <a:ext cx="8115300" cy="7029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  <a:spcBef>
                <a:spcPct val="0"/>
              </a:spcBef>
            </a:pPr>
            <a:r>
              <a:rPr lang="en-US" sz="4200" b="1" spc="-84">
                <a:solidFill>
                  <a:srgbClr val="000000"/>
                </a:solidFill>
                <a:latin typeface="Oswald Bold"/>
                <a:ea typeface="Oswald Bold"/>
                <a:cs typeface="Oswald Bold"/>
                <a:sym typeface="Oswald Bold"/>
              </a:rPr>
              <a:t>TCC COMPILATION WORKFLOW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2893538" y="3075155"/>
            <a:ext cx="4219773" cy="5985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64"/>
              </a:lnSpc>
            </a:pPr>
            <a:r>
              <a:rPr lang="en-US" sz="176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Checks tokens according to C grammar.</a:t>
            </a:r>
          </a:p>
        </p:txBody>
      </p:sp>
      <p:sp>
        <p:nvSpPr>
          <p:cNvPr id="49" name="Freeform 49"/>
          <p:cNvSpPr/>
          <p:nvPr/>
        </p:nvSpPr>
        <p:spPr>
          <a:xfrm>
            <a:off x="12649328" y="2881815"/>
            <a:ext cx="4408120" cy="1036644"/>
          </a:xfrm>
          <a:custGeom>
            <a:avLst/>
            <a:gdLst/>
            <a:ahLst/>
            <a:cxnLst/>
            <a:rect l="l" t="t" r="r" b="b"/>
            <a:pathLst>
              <a:path w="4408120" h="1036644">
                <a:moveTo>
                  <a:pt x="0" y="0"/>
                </a:moveTo>
                <a:lnTo>
                  <a:pt x="4408120" y="0"/>
                </a:lnTo>
                <a:lnTo>
                  <a:pt x="4408120" y="1036644"/>
                </a:lnTo>
                <a:lnTo>
                  <a:pt x="0" y="1036644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4126" b="-358"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2697187" y="4042284"/>
            <a:ext cx="4360251" cy="1025387"/>
          </a:xfrm>
          <a:custGeom>
            <a:avLst/>
            <a:gdLst/>
            <a:ahLst/>
            <a:cxnLst/>
            <a:rect l="l" t="t" r="r" b="b"/>
            <a:pathLst>
              <a:path w="4360251" h="1025387">
                <a:moveTo>
                  <a:pt x="0" y="0"/>
                </a:moveTo>
                <a:lnTo>
                  <a:pt x="4360251" y="0"/>
                </a:lnTo>
                <a:lnTo>
                  <a:pt x="4360251" y="1025387"/>
                </a:lnTo>
                <a:lnTo>
                  <a:pt x="0" y="1025387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4126" b="-358"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2728702" y="5017690"/>
            <a:ext cx="4368566" cy="996060"/>
          </a:xfrm>
          <a:custGeom>
            <a:avLst/>
            <a:gdLst/>
            <a:ahLst/>
            <a:cxnLst/>
            <a:rect l="l" t="t" r="r" b="b"/>
            <a:pathLst>
              <a:path w="4368566" h="996060">
                <a:moveTo>
                  <a:pt x="0" y="0"/>
                </a:moveTo>
                <a:lnTo>
                  <a:pt x="4368566" y="0"/>
                </a:lnTo>
                <a:lnTo>
                  <a:pt x="4368566" y="996060"/>
                </a:lnTo>
                <a:lnTo>
                  <a:pt x="0" y="996060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5382" b="-12698"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12781607" y="5227830"/>
            <a:ext cx="431566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Creates an internal form, an internal representation for code generation.</a:t>
            </a:r>
          </a:p>
        </p:txBody>
      </p:sp>
      <p:sp>
        <p:nvSpPr>
          <p:cNvPr id="53" name="Freeform 53"/>
          <p:cNvSpPr/>
          <p:nvPr/>
        </p:nvSpPr>
        <p:spPr>
          <a:xfrm>
            <a:off x="12702060" y="6184119"/>
            <a:ext cx="4362204" cy="1025847"/>
          </a:xfrm>
          <a:custGeom>
            <a:avLst/>
            <a:gdLst/>
            <a:ahLst/>
            <a:cxnLst/>
            <a:rect l="l" t="t" r="r" b="b"/>
            <a:pathLst>
              <a:path w="4362204" h="1025847">
                <a:moveTo>
                  <a:pt x="0" y="0"/>
                </a:moveTo>
                <a:lnTo>
                  <a:pt x="4362204" y="0"/>
                </a:lnTo>
                <a:lnTo>
                  <a:pt x="4362204" y="1025847"/>
                </a:lnTo>
                <a:lnTo>
                  <a:pt x="0" y="1025847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4126" b="-358"/>
            </a:stretch>
          </a:blipFill>
        </p:spPr>
      </p:sp>
      <p:sp>
        <p:nvSpPr>
          <p:cNvPr id="54" name="TextBox 54"/>
          <p:cNvSpPr txBox="1"/>
          <p:nvPr/>
        </p:nvSpPr>
        <p:spPr>
          <a:xfrm>
            <a:off x="12808250" y="6338000"/>
            <a:ext cx="431566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Improves the intermediate code for efficient execution.</a:t>
            </a:r>
          </a:p>
        </p:txBody>
      </p:sp>
      <p:sp>
        <p:nvSpPr>
          <p:cNvPr id="55" name="Freeform 55"/>
          <p:cNvSpPr/>
          <p:nvPr/>
        </p:nvSpPr>
        <p:spPr>
          <a:xfrm>
            <a:off x="12609514" y="7125771"/>
            <a:ext cx="4447940" cy="1046009"/>
          </a:xfrm>
          <a:custGeom>
            <a:avLst/>
            <a:gdLst/>
            <a:ahLst/>
            <a:cxnLst/>
            <a:rect l="l" t="t" r="r" b="b"/>
            <a:pathLst>
              <a:path w="4447940" h="1046009">
                <a:moveTo>
                  <a:pt x="0" y="0"/>
                </a:moveTo>
                <a:lnTo>
                  <a:pt x="4447941" y="0"/>
                </a:lnTo>
                <a:lnTo>
                  <a:pt x="4447941" y="1046009"/>
                </a:lnTo>
                <a:lnTo>
                  <a:pt x="0" y="1046009"/>
                </a:lnTo>
                <a:lnTo>
                  <a:pt x="0" y="0"/>
                </a:lnTo>
                <a:close/>
              </a:path>
            </a:pathLst>
          </a:custGeom>
          <a:blipFill>
            <a:blip r:embed="rId20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4126" b="-358"/>
            </a:stretch>
          </a:blipFill>
        </p:spPr>
      </p:sp>
      <p:sp>
        <p:nvSpPr>
          <p:cNvPr id="56" name="TextBox 56"/>
          <p:cNvSpPr txBox="1"/>
          <p:nvPr/>
        </p:nvSpPr>
        <p:spPr>
          <a:xfrm>
            <a:off x="12741794" y="7284582"/>
            <a:ext cx="4315661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Generates machine code, resolves symbols, and creates the .exe file.</a:t>
            </a:r>
          </a:p>
        </p:txBody>
      </p:sp>
      <p:sp>
        <p:nvSpPr>
          <p:cNvPr id="57" name="Freeform 57"/>
          <p:cNvSpPr/>
          <p:nvPr/>
        </p:nvSpPr>
        <p:spPr>
          <a:xfrm>
            <a:off x="6900283" y="2318764"/>
            <a:ext cx="832096" cy="325583"/>
          </a:xfrm>
          <a:custGeom>
            <a:avLst/>
            <a:gdLst/>
            <a:ahLst/>
            <a:cxnLst/>
            <a:rect l="l" t="t" r="r" b="b"/>
            <a:pathLst>
              <a:path w="832096" h="325583">
                <a:moveTo>
                  <a:pt x="0" y="0"/>
                </a:moveTo>
                <a:lnTo>
                  <a:pt x="832096" y="0"/>
                </a:lnTo>
                <a:lnTo>
                  <a:pt x="832096" y="325583"/>
                </a:lnTo>
                <a:lnTo>
                  <a:pt x="0" y="325583"/>
                </a:lnTo>
                <a:lnTo>
                  <a:pt x="0" y="0"/>
                </a:lnTo>
                <a:close/>
              </a:path>
            </a:pathLst>
          </a:custGeom>
          <a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58" name="Freeform 58"/>
          <p:cNvSpPr/>
          <p:nvPr/>
        </p:nvSpPr>
        <p:spPr>
          <a:xfrm>
            <a:off x="11353046" y="2249027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6" y="0"/>
                </a:lnTo>
                <a:lnTo>
                  <a:pt x="1469676" y="170931"/>
                </a:lnTo>
                <a:lnTo>
                  <a:pt x="0" y="170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59" name="Freeform 59"/>
          <p:cNvSpPr/>
          <p:nvPr/>
        </p:nvSpPr>
        <p:spPr>
          <a:xfrm>
            <a:off x="11353046" y="5627634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6" y="0"/>
                </a:lnTo>
                <a:lnTo>
                  <a:pt x="1469676" y="170931"/>
                </a:lnTo>
                <a:lnTo>
                  <a:pt x="0" y="170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0" name="Freeform 60"/>
          <p:cNvSpPr/>
          <p:nvPr/>
        </p:nvSpPr>
        <p:spPr>
          <a:xfrm>
            <a:off x="11383449" y="6670198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6" y="0"/>
                </a:lnTo>
                <a:lnTo>
                  <a:pt x="1469676" y="170931"/>
                </a:lnTo>
                <a:lnTo>
                  <a:pt x="0" y="170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1" name="Freeform 61"/>
          <p:cNvSpPr/>
          <p:nvPr/>
        </p:nvSpPr>
        <p:spPr>
          <a:xfrm>
            <a:off x="11383449" y="7563310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6" y="0"/>
                </a:lnTo>
                <a:lnTo>
                  <a:pt x="1469676" y="170931"/>
                </a:lnTo>
                <a:lnTo>
                  <a:pt x="0" y="170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2" name="Freeform 62"/>
          <p:cNvSpPr/>
          <p:nvPr/>
        </p:nvSpPr>
        <p:spPr>
          <a:xfrm>
            <a:off x="9319695" y="3821011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9" y="0"/>
                </a:lnTo>
                <a:lnTo>
                  <a:pt x="216129" y="488375"/>
                </a:lnTo>
                <a:lnTo>
                  <a:pt x="0" y="48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3" name="Freeform 63"/>
          <p:cNvSpPr/>
          <p:nvPr/>
        </p:nvSpPr>
        <p:spPr>
          <a:xfrm>
            <a:off x="9311061" y="4794813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8" y="0"/>
                </a:lnTo>
                <a:lnTo>
                  <a:pt x="216128" y="488375"/>
                </a:lnTo>
                <a:lnTo>
                  <a:pt x="0" y="48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4" name="Freeform 64"/>
          <p:cNvSpPr/>
          <p:nvPr/>
        </p:nvSpPr>
        <p:spPr>
          <a:xfrm>
            <a:off x="9311061" y="5928632"/>
            <a:ext cx="216129" cy="488375"/>
          </a:xfrm>
          <a:custGeom>
            <a:avLst/>
            <a:gdLst/>
            <a:ahLst/>
            <a:cxnLst/>
            <a:rect l="l" t="t" r="r" b="b"/>
            <a:pathLst>
              <a:path w="216129" h="488375">
                <a:moveTo>
                  <a:pt x="0" y="0"/>
                </a:moveTo>
                <a:lnTo>
                  <a:pt x="216128" y="0"/>
                </a:lnTo>
                <a:lnTo>
                  <a:pt x="216128" y="488375"/>
                </a:lnTo>
                <a:lnTo>
                  <a:pt x="0" y="488375"/>
                </a:lnTo>
                <a:lnTo>
                  <a:pt x="0" y="0"/>
                </a:lnTo>
                <a:close/>
              </a:path>
            </a:pathLst>
          </a:custGeom>
          <a:blipFill>
            <a:blip r:embed="rId1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5" name="Freeform 65"/>
          <p:cNvSpPr/>
          <p:nvPr/>
        </p:nvSpPr>
        <p:spPr>
          <a:xfrm>
            <a:off x="11353046" y="4489959"/>
            <a:ext cx="1469676" cy="170931"/>
          </a:xfrm>
          <a:custGeom>
            <a:avLst/>
            <a:gdLst/>
            <a:ahLst/>
            <a:cxnLst/>
            <a:rect l="l" t="t" r="r" b="b"/>
            <a:pathLst>
              <a:path w="1469676" h="170931">
                <a:moveTo>
                  <a:pt x="0" y="0"/>
                </a:moveTo>
                <a:lnTo>
                  <a:pt x="1469676" y="0"/>
                </a:lnTo>
                <a:lnTo>
                  <a:pt x="1469676" y="170931"/>
                </a:lnTo>
                <a:lnTo>
                  <a:pt x="0" y="170931"/>
                </a:lnTo>
                <a:lnTo>
                  <a:pt x="0" y="0"/>
                </a:lnTo>
                <a:close/>
              </a:path>
            </a:pathLst>
          </a:custGeom>
          <a:blipFill>
            <a:blip r:embed="rId2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16382" b="-16382"/>
            </a:stretch>
          </a:blipFill>
        </p:spPr>
      </p:sp>
      <p:sp>
        <p:nvSpPr>
          <p:cNvPr id="66" name="TextBox 66"/>
          <p:cNvSpPr txBox="1"/>
          <p:nvPr/>
        </p:nvSpPr>
        <p:spPr>
          <a:xfrm>
            <a:off x="12929510" y="4158686"/>
            <a:ext cx="4127928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Checks for parsing and compilation logic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/>
          </p:cNvSpPr>
          <p:nvPr/>
        </p:nvSpPr>
        <p:spPr>
          <a:xfrm>
            <a:off x="1337458" y="61810"/>
            <a:ext cx="15613084" cy="10163380"/>
          </a:xfrm>
          <a:custGeom>
            <a:avLst/>
            <a:gdLst/>
            <a:ahLst/>
            <a:cxnLst/>
            <a:rect l="l" t="t" r="r" b="b"/>
            <a:pathLst>
              <a:path w="15613084" h="10163380">
                <a:moveTo>
                  <a:pt x="0" y="0"/>
                </a:moveTo>
                <a:lnTo>
                  <a:pt x="15613084" y="0"/>
                </a:lnTo>
                <a:lnTo>
                  <a:pt x="15613084" y="10163380"/>
                </a:lnTo>
                <a:lnTo>
                  <a:pt x="0" y="10163380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 t="-239" b="-2174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4EE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1846296"/>
            <a:ext cx="18024190" cy="12133296"/>
          </a:xfrm>
          <a:custGeom>
            <a:avLst/>
            <a:gdLst/>
            <a:ahLst/>
            <a:cxnLst/>
            <a:rect l="l" t="t" r="r" b="b"/>
            <a:pathLst>
              <a:path w="18024190" h="12133296">
                <a:moveTo>
                  <a:pt x="0" y="0"/>
                </a:moveTo>
                <a:lnTo>
                  <a:pt x="18024190" y="0"/>
                </a:lnTo>
                <a:lnTo>
                  <a:pt x="18024190" y="12133296"/>
                </a:lnTo>
                <a:lnTo>
                  <a:pt x="0" y="1213329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1881064" y="4804816"/>
            <a:ext cx="20684804" cy="1054009"/>
            <a:chOff x="0" y="0"/>
            <a:chExt cx="27579738" cy="1405345"/>
          </a:xfrm>
        </p:grpSpPr>
        <p:sp>
          <p:nvSpPr>
            <p:cNvPr id="4" name="AutoShape 4"/>
            <p:cNvSpPr/>
            <p:nvPr/>
          </p:nvSpPr>
          <p:spPr>
            <a:xfrm flipV="1">
              <a:off x="140613" y="0"/>
              <a:ext cx="0" cy="1405345"/>
            </a:xfrm>
            <a:prstGeom prst="line">
              <a:avLst/>
            </a:prstGeom>
            <a:ln w="267165" cap="flat">
              <a:solidFill>
                <a:srgbClr val="FF821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395796" y="-105312"/>
              <a:ext cx="27183943" cy="14096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928"/>
                </a:lnSpc>
                <a:spcBef>
                  <a:spcPct val="0"/>
                </a:spcBef>
              </a:pPr>
              <a:r>
                <a:rPr lang="en-US" sz="6377" b="1" spc="-127">
                  <a:gradFill>
                    <a:gsLst>
                      <a:gs pos="0">
                        <a:srgbClr val="F8F4EE">
                          <a:alpha val="100000"/>
                        </a:srgbClr>
                      </a:gs>
                      <a:gs pos="100000">
                        <a:srgbClr val="FFFFFF">
                          <a:alpha val="100000"/>
                        </a:srgbClr>
                      </a:gs>
                    </a:gsLst>
                    <a:lin ang="0"/>
                  </a:gradFill>
                  <a:latin typeface="Oswald Bold"/>
                  <a:ea typeface="Oswald Bold"/>
                  <a:cs typeface="Oswald Bold"/>
                  <a:sym typeface="Oswald Bold"/>
                </a:rPr>
                <a:t>                                   PRACTICAL DEMONSTRATION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122</Words>
  <Application>Microsoft Office PowerPoint</Application>
  <PresentationFormat>Custom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Oswald</vt:lpstr>
      <vt:lpstr>Arial</vt:lpstr>
      <vt:lpstr>Open Sauce</vt:lpstr>
      <vt:lpstr>Open Sauce Bold</vt:lpstr>
      <vt:lpstr>Canva Sans</vt:lpstr>
      <vt:lpstr>Calibri</vt:lpstr>
      <vt:lpstr>Canva Sans Bold</vt:lpstr>
      <vt:lpstr>Oswald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 ISE</dc:title>
  <dc:creator>Sakib Latkar</dc:creator>
  <cp:lastModifiedBy>Sakib Latkar</cp:lastModifiedBy>
  <cp:revision>5</cp:revision>
  <dcterms:created xsi:type="dcterms:W3CDTF">2006-08-16T00:00:00Z</dcterms:created>
  <dcterms:modified xsi:type="dcterms:W3CDTF">2026-08-23T06:32:59Z</dcterms:modified>
  <dc:identifier>DAHS1L_0-X8</dc:identifier>
</cp:coreProperties>
</file>